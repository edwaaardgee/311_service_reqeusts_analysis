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7" r:id="rId11"/>
    <p:sldId id="266" r:id="rId12"/>
    <p:sldId id="268" r:id="rId13"/>
    <p:sldId id="269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21" autoAdjust="0"/>
  </p:normalViewPr>
  <p:slideViewPr>
    <p:cSldViewPr snapToGrid="0" snapToObjects="1">
      <p:cViewPr varScale="1">
        <p:scale>
          <a:sx n="103" d="100"/>
          <a:sy n="103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waaardgee/311_service_requests_analysis" TargetMode="External"/><Relationship Id="rId2" Type="http://schemas.openxmlformats.org/officeDocument/2006/relationships/hyperlink" Target="https://www.kaggle.com/datasets/aliafzal9323/los-angeles-crime-data-2020-2026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2637"/>
                </a:solidFill>
              </a:defRPr>
            </a:pPr>
            <a:r>
              <a:t>NYC 311 Service Requests</a:t>
            </a:r>
          </a:p>
          <a:p>
            <a:pPr>
              <a:defRPr sz="2600">
                <a:solidFill>
                  <a:srgbClr val="265E8E"/>
                </a:solidFill>
              </a:defRPr>
            </a:pPr>
            <a:r>
              <a:t>Big Data Analysis Using Hadoop, Hive, and Excel 3D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10515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2600" b="1">
                <a:solidFill>
                  <a:srgbClr val="162637"/>
                </a:solidFill>
              </a:defRPr>
            </a:pPr>
            <a:r>
              <a:t>Edward Gallegos</a:t>
            </a:r>
          </a:p>
          <a:p>
            <a:pPr>
              <a:defRPr sz="2200" b="0">
                <a:solidFill>
                  <a:srgbClr val="162637"/>
                </a:solidFill>
              </a:defRPr>
            </a:pPr>
            <a:r>
              <a:t>CIS 4560: Introduction to Big Data</a:t>
            </a:r>
          </a:p>
          <a:p>
            <a:pPr>
              <a:defRPr sz="2200" b="0">
                <a:solidFill>
                  <a:srgbClr val="162637"/>
                </a:solidFill>
              </a:defRPr>
            </a:pPr>
            <a:r>
              <a:t>Professor Jongwook Woo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887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dirty="0"/>
              <a:t>Project </a:t>
            </a:r>
            <a:r>
              <a:rPr lang="en-US" dirty="0"/>
              <a:t>O</a:t>
            </a:r>
            <a:r>
              <a:rPr dirty="0"/>
              <a:t>bjective </a:t>
            </a:r>
            <a:endParaRPr lang="en-US" dirty="0"/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lang="en-US" dirty="0"/>
              <a:t>D</a:t>
            </a:r>
            <a:r>
              <a:rPr dirty="0"/>
              <a:t>ataset </a:t>
            </a:r>
            <a:r>
              <a:rPr lang="en-US" dirty="0"/>
              <a:t>O</a:t>
            </a:r>
            <a:r>
              <a:rPr dirty="0"/>
              <a:t>verview</a:t>
            </a:r>
            <a:r>
              <a:rPr lang="en-US" dirty="0"/>
              <a:t> and Data Source Requirements</a:t>
            </a:r>
            <a:endParaRPr dirty="0"/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dirty="0"/>
              <a:t>Hardware / </a:t>
            </a:r>
            <a:r>
              <a:rPr lang="en-US" dirty="0"/>
              <a:t>C</a:t>
            </a:r>
            <a:r>
              <a:rPr dirty="0"/>
              <a:t>luster </a:t>
            </a:r>
            <a:r>
              <a:rPr lang="en-US" dirty="0"/>
              <a:t>S</a:t>
            </a:r>
            <a:r>
              <a:rPr dirty="0"/>
              <a:t>pecifications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dirty="0"/>
              <a:t>Hadoop, HDFS, Hive, and Beeline </a:t>
            </a:r>
            <a:r>
              <a:rPr lang="en-US" dirty="0"/>
              <a:t>W</a:t>
            </a:r>
            <a:r>
              <a:rPr dirty="0"/>
              <a:t>orkflow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dirty="0"/>
              <a:t>Data </a:t>
            </a:r>
            <a:r>
              <a:rPr lang="en-US" dirty="0"/>
              <a:t>C</a:t>
            </a:r>
            <a:r>
              <a:rPr dirty="0"/>
              <a:t>leaning, Hive</a:t>
            </a:r>
            <a:r>
              <a:rPr lang="en-US" dirty="0"/>
              <a:t>QL</a:t>
            </a:r>
            <a:r>
              <a:rPr dirty="0"/>
              <a:t> </a:t>
            </a:r>
            <a:r>
              <a:rPr lang="en-US" dirty="0"/>
              <a:t>P</a:t>
            </a:r>
            <a:r>
              <a:rPr dirty="0"/>
              <a:t>rocessing, and </a:t>
            </a:r>
            <a:r>
              <a:rPr lang="en-US" dirty="0"/>
              <a:t>V</a:t>
            </a:r>
            <a:r>
              <a:rPr dirty="0"/>
              <a:t>isualization</a:t>
            </a:r>
            <a:r>
              <a:rPr lang="en-US" dirty="0"/>
              <a:t>s</a:t>
            </a:r>
            <a:endParaRPr dirty="0"/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  <a:defRPr sz="2600">
                <a:solidFill>
                  <a:srgbClr val="162637"/>
                </a:solidFill>
              </a:defRPr>
            </a:pPr>
            <a:r>
              <a:rPr dirty="0"/>
              <a:t>Findings, </a:t>
            </a:r>
            <a:r>
              <a:rPr lang="en-US" dirty="0"/>
              <a:t>R</a:t>
            </a:r>
            <a:r>
              <a:rPr dirty="0"/>
              <a:t>ecommendations</a:t>
            </a:r>
            <a:r>
              <a:rPr lang="en-US" dirty="0"/>
              <a:t>, and Deliverables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Project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 algn="just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Analyze NYC 311 service requests from 2020 to present.</a:t>
            </a:r>
          </a:p>
          <a:p>
            <a:pPr algn="just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Identify common complaint types and request hotspots to prioritize high-volume city service issues.</a:t>
            </a:r>
          </a:p>
          <a:p>
            <a:pPr algn="just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Use location and time fields to support tempo-spatial analysis.</a:t>
            </a:r>
          </a:p>
          <a:p>
            <a:pPr algn="just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Process a large dataset with Hadoop/HDFS and Hive</a:t>
            </a:r>
            <a:r>
              <a:rPr lang="en-US" dirty="0"/>
              <a:t>.</a:t>
            </a:r>
            <a:endParaRPr dirty="0"/>
          </a:p>
          <a:p>
            <a:pPr algn="just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Create reproducible slides, paper, tutorial, and GitHub deliverables.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Dataset Overview and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Dataset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979" y="1371600"/>
            <a:ext cx="5799221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File: 311_Service_Requests_from_2020_to_Present.csv</a:t>
            </a:r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Dataset size: 12.63 GB</a:t>
            </a:r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Subset used for visualization: 10,000 records</a:t>
            </a:r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Columns: 44</a:t>
            </a:r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Time range: 2020 to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9601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Required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371600"/>
            <a:ext cx="546394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Data source: Kaggle dataset package</a:t>
            </a:r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URL: </a:t>
            </a:r>
            <a:r>
              <a:rPr sz="2400" dirty="0">
                <a:hlinkClick r:id="rId2"/>
              </a:rPr>
              <a:t>https://www.kaggle.com/datasets/aliafzal9323/los-angeles-crime-data-2020-202</a:t>
            </a:r>
            <a:r>
              <a:rPr lang="en-US" sz="2400" dirty="0">
                <a:hlinkClick r:id="rId2"/>
              </a:rPr>
              <a:t>6</a:t>
            </a: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r>
              <a:rPr sz="2400" dirty="0"/>
              <a:t>GitHub: </a:t>
            </a:r>
            <a:r>
              <a:rPr sz="2400" dirty="0">
                <a:hlinkClick r:id="rId3"/>
              </a:rPr>
              <a:t>https://github.com/edwaaardgee/31</a:t>
            </a:r>
            <a:r>
              <a:rPr lang="en-US" sz="2400" dirty="0">
                <a:hlinkClick r:id="rId3"/>
              </a:rPr>
              <a:t>1_</a:t>
            </a:r>
            <a:r>
              <a:rPr sz="2400" dirty="0">
                <a:hlinkClick r:id="rId3"/>
              </a:rPr>
              <a:t>service</a:t>
            </a:r>
            <a:r>
              <a:rPr lang="en-US" sz="2400" dirty="0">
                <a:hlinkClick r:id="rId3"/>
              </a:rPr>
              <a:t>_</a:t>
            </a:r>
            <a:r>
              <a:rPr sz="2400" dirty="0">
                <a:hlinkClick r:id="rId3"/>
              </a:rPr>
              <a:t>request</a:t>
            </a:r>
            <a:r>
              <a:rPr lang="en-US" sz="2400" dirty="0">
                <a:hlinkClick r:id="rId3"/>
              </a:rPr>
              <a:t>s_</a:t>
            </a:r>
            <a:r>
              <a:rPr sz="2400" dirty="0">
                <a:hlinkClick r:id="rId3"/>
              </a:rPr>
              <a:t>analysis</a:t>
            </a: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162637"/>
                </a:solidFill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dirty="0"/>
              <a:t>Note: Kaggle package title differs, but the file used for this project is the NYC 311 Service Requests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Hardware / Cluster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Cluster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5778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Big Data platform: Hadoop / Hive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lang="en-US" dirty="0"/>
              <a:t>Cluster v</a:t>
            </a:r>
            <a:r>
              <a:rPr dirty="0"/>
              <a:t>ersion: </a:t>
            </a:r>
            <a:r>
              <a:rPr lang="en-US" dirty="0"/>
              <a:t>Hadoop 3.4.1</a:t>
            </a: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Storage: HDFS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Query interface: Beeline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Processing: HiveQL and 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9601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Experimental Specs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Cluster nodes: </a:t>
            </a:r>
            <a:r>
              <a:rPr lang="en-US" dirty="0"/>
              <a:t>5 nodes — 2 master, 3 worker 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lang="en-US" dirty="0"/>
              <a:t>Memory: 31 GB RAM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CPU: AMD EPYC 7J13 processor</a:t>
            </a:r>
          </a:p>
          <a:p>
            <a:pPr>
              <a:spcAft>
                <a:spcPts val="1000"/>
              </a:spcAft>
              <a:defRPr sz="2100">
                <a:solidFill>
                  <a:srgbClr val="162637"/>
                </a:solidFill>
              </a:defRPr>
            </a:pPr>
            <a:r>
              <a:rPr dirty="0"/>
              <a:t>CPU speed: 2.4 GHz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Implementation Workflow /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Download dataset</a:t>
            </a:r>
            <a:br/>
            <a:r>
              <a:t>from Kaggle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4560" y="2267712"/>
            <a:ext cx="411480" cy="320040"/>
          </a:xfrm>
          <a:prstGeom prst="rightArrow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7744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Upload CSV</a:t>
            </a:r>
            <a:br/>
            <a:r>
              <a:t>to HDFS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2267712"/>
            <a:ext cx="411480" cy="320040"/>
          </a:xfrm>
          <a:prstGeom prst="rightArrow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Create Hive</a:t>
            </a:r>
            <a:br/>
            <a:r>
              <a:t>external table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5040" y="2267712"/>
            <a:ext cx="411480" cy="320040"/>
          </a:xfrm>
          <a:prstGeom prst="rightArrow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Run HiveQL</a:t>
            </a:r>
            <a:br/>
            <a:r>
              <a:t>cleaning queries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80" y="2267712"/>
            <a:ext cx="411480" cy="320040"/>
          </a:xfrm>
          <a:prstGeom prst="rightArrow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Export subset</a:t>
            </a:r>
            <a:br/>
            <a:r>
              <a:t>from Hive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75520" y="2267712"/>
            <a:ext cx="411480" cy="320040"/>
          </a:xfrm>
          <a:prstGeom prst="rightArrow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0" y="201168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637"/>
                </a:solidFill>
              </a:defRPr>
            </a:pPr>
            <a:r>
              <a:t>Visualize in</a:t>
            </a:r>
            <a:br/>
            <a:r>
              <a:t>Excel 3D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10332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 algn="ctr"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This workflow shows the full implementation from raw data to processed visualization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Data Cleaning and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Removed records with missing or invalid latitude and longitude values.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Used </a:t>
            </a:r>
            <a:r>
              <a:rPr lang="en-US" sz="2600" dirty="0" err="1"/>
              <a:t>created_date</a:t>
            </a:r>
            <a:r>
              <a:rPr lang="en-US" sz="2600" dirty="0"/>
              <a:t> fields for time-based analysis in Excel 3D Map.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Focused on service request categories related to infrastructure, sanitation, and public services.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Selected relevant fields: date, agency, complaint type, borough, latitude, and longitude.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Exported a 10,000-record subset for Excel 3D Map due to visualization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Hive Table Creation and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Connected to the Hadoop cluster remotely using SSH.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Created an HDFS project directory for the 311 service request data.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Uploaded the large CSV file into HDFS.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Opened Beeline and selected the Hive database.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Created an external Hive table using </a:t>
            </a:r>
            <a:r>
              <a:rPr dirty="0" err="1"/>
              <a:t>OpenCSVSerde</a:t>
            </a:r>
            <a:r>
              <a:rPr dirty="0"/>
              <a:t> for CSV parsing.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Used HiveQL to preview records, count rows, filter fields, and prepare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HiveQL Analysis Performed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Main Query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5778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Count total records in the Hive table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Find top service request categories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sz="2200" dirty="0"/>
              <a:t>Compare requests by location and category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Filter rows with valid latitude and longitude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Export a cleaned mapping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960120"/>
            <a:ext cx="108132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rPr dirty="0"/>
              <a:t>HiveQL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SELECT problem, COUNT(*) AS </a:t>
            </a:r>
            <a:r>
              <a:rPr dirty="0" err="1"/>
              <a:t>total_requests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FROM service_requests_311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GROUP BY problem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ORDER BY </a:t>
            </a:r>
            <a:r>
              <a:rPr dirty="0" err="1"/>
              <a:t>total_requests</a:t>
            </a:r>
            <a:r>
              <a:rPr dirty="0"/>
              <a:t> DESC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LIMIT 10;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DF0AE-740C-BD1B-080C-73652275BA8B}"/>
              </a:ext>
            </a:extLst>
          </p:cNvPr>
          <p:cNvSpPr txBox="1"/>
          <p:nvPr/>
        </p:nvSpPr>
        <p:spPr>
          <a:xfrm>
            <a:off x="6355080" y="6231403"/>
            <a:ext cx="5212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Ranks service request categories by total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Service Request 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Complaint-Type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Aggregated request totals by complaint/problem type using HiveQL.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dirty="0"/>
              <a:t>Identified the highest-volume categories: Noise - Residential, Heat/Hot Water, Bulky Item Collection, Illegal Parking, and Blocked Driveway.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Used results to compare which city issues appeared most often in the dataset.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dirty="0"/>
              <a:t>This analysis supports the recommendation to prioritize high-frequency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937760" cy="493776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E8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Tempo-Spatial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E8E"/>
                </a:solidFill>
              </a:defRPr>
            </a:pPr>
            <a:r>
              <a:t>What the Visualization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43" y="1257300"/>
            <a:ext cx="9275973" cy="519063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E8E"/>
                </a:solidFill>
              </a:defRPr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58B75-032D-95E2-722E-62A507C81AD6}"/>
              </a:ext>
            </a:extLst>
          </p:cNvPr>
          <p:cNvSpPr txBox="1"/>
          <p:nvPr/>
        </p:nvSpPr>
        <p:spPr>
          <a:xfrm>
            <a:off x="9497976" y="225781"/>
            <a:ext cx="2422689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sz="2500" dirty="0"/>
              <a:t>Location fields used: latitude, longitude.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sz="2500" dirty="0"/>
              <a:t>Time fields used: </a:t>
            </a:r>
            <a:r>
              <a:rPr lang="en-US" sz="2500" dirty="0" err="1"/>
              <a:t>created_date</a:t>
            </a:r>
            <a:r>
              <a:rPr lang="en-US" sz="2500" dirty="0"/>
              <a:t>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sz="2500" dirty="0"/>
              <a:t>Excel 3D Map visualized service requests by location and time.</a:t>
            </a:r>
          </a:p>
          <a:p>
            <a:pPr>
              <a:spcAft>
                <a:spcPts val="1000"/>
              </a:spcAft>
              <a:defRPr sz="2200">
                <a:solidFill>
                  <a:srgbClr val="162637"/>
                </a:solidFill>
              </a:defRPr>
            </a:pPr>
            <a:r>
              <a:rPr lang="en-US" sz="2500" dirty="0"/>
              <a:t>Goal: show where requests cluster and how request patterns change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Noise - Residential, Heat/Hot Water, and Bulky Item Collection were the top three service request categories based on the HiveQL count query.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High-volume complaints show which city issues should receive the most attention and resources.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Infrastructure and quality-of-life issues appeared repeatedly, including blocked driveways, street conditions, and street light problems.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600" dirty="0"/>
              <a:t>Combining </a:t>
            </a:r>
            <a:r>
              <a:rPr lang="en-US" sz="2600" dirty="0" err="1"/>
              <a:t>created_date</a:t>
            </a:r>
            <a:r>
              <a:rPr lang="en-US" sz="2600" dirty="0"/>
              <a:t> with latitude and longitude revealed patterns that a basic table would not show.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500" dirty="0"/>
              <a:t>Prioritize the highest-volume complaint categories first, especially Noise - Residential, Heat/Hot Water, Bulky Item Collection, Illegal Parking, and Blocked Driveway.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500" dirty="0"/>
              <a:t>Use hotspot locations from the 3D Map to guide staffing, field operations, and resource allocation.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500" dirty="0"/>
              <a:t>Track repeated complaints over time to identify recurring neighborhood service problems.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500" dirty="0"/>
              <a:t>Use Hive and HDFS to process large public-service datasets more efficiently than local tools.</a:t>
            </a:r>
          </a:p>
          <a:p>
            <a:pPr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lang="en-US" sz="2500" dirty="0"/>
              <a:t>Build geospatial dashboards so agencies can monitor service request trends and make faster data-driven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637"/>
                </a:solidFill>
              </a:defRPr>
            </a:pPr>
            <a: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228600" rtlCol="0" anchor="ctr"/>
          <a:lstStyle/>
          <a:p>
            <a:pPr algn="ctr">
              <a:spcAft>
                <a:spcPts val="1000"/>
              </a:spcAft>
              <a:defRPr sz="2600">
                <a:solidFill>
                  <a:srgbClr val="162637"/>
                </a:solidFill>
              </a:defRPr>
            </a:pP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858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edward</dc:creator>
  <cp:keywords/>
  <dc:description>generated using python-pptx</dc:description>
  <cp:lastModifiedBy>Gallegos, Edward</cp:lastModifiedBy>
  <cp:revision>8</cp:revision>
  <dcterms:created xsi:type="dcterms:W3CDTF">2013-01-27T09:14:16Z</dcterms:created>
  <dcterms:modified xsi:type="dcterms:W3CDTF">2026-05-14T22:19:12Z</dcterms:modified>
  <cp:category/>
</cp:coreProperties>
</file>